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0" y="0"/>
            <a:ext cx="323850" cy="6858000"/>
          </a:xfrm>
          <a:prstGeom prst="rect">
            <a:avLst/>
          </a:prstGeom>
          <a:solidFill>
            <a:srgbClr val="FF6633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8286750" y="0"/>
            <a:ext cx="3905250" cy="6858000"/>
          </a:xfrm>
          <a:prstGeom prst="rect">
            <a:avLst/>
          </a:prstGeom>
          <a:solidFill>
            <a:srgbClr val="FF6633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742950" y="1428750"/>
            <a:ext cx="695325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</a:t>
            </a:r>
            <a:r>
              <a:rPr lang="zh-CN"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生活</a:t>
            </a:r>
            <a:endParaRPr lang="zh-CN"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62000" y="2238375"/>
            <a:ext cx="666750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0">
                <a:solidFill>
                  <a:srgbClr val="FED7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FED7C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高并发本地生活服务项目讲解</a:t>
            </a:r>
            <a:endParaRPr sz="2250" b="0">
              <a:solidFill>
                <a:srgbClr val="FED7C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3143250"/>
            <a:ext cx="666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Spring Boot · Redis · Kafka · MySQL</a:t>
            </a:r>
            <a:endParaRPr sz="15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3743325"/>
            <a:ext cx="6667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项目架构、核心业务与秒杀可靠性实践</a:t>
            </a:r>
            <a:endParaRPr sz="1575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8915400" y="1695450"/>
            <a:ext cx="22860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0"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029700" y="1771650"/>
            <a:ext cx="20574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66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66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本地生活</a:t>
            </a:r>
            <a:endParaRPr sz="1500" b="1">
              <a:solidFill>
                <a:srgbClr val="FF66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8915400" y="2724150"/>
            <a:ext cx="2286000" cy="742950"/>
          </a:xfrm>
          <a:prstGeom prst="roundRect">
            <a:avLst>
              <a:gd name="adj" fmla="val 10256"/>
            </a:avLst>
          </a:prstGeom>
          <a:solidFill>
            <a:srgbClr val="FFF4EE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029700" y="2800350"/>
            <a:ext cx="20574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66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66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缓存治理</a:t>
            </a:r>
            <a:endParaRPr sz="1500" b="1">
              <a:solidFill>
                <a:srgbClr val="FF66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915400" y="3752850"/>
            <a:ext cx="2286000" cy="742950"/>
          </a:xfrm>
          <a:prstGeom prst="roundRect">
            <a:avLst>
              <a:gd name="adj" fmla="val 10256"/>
            </a:avLst>
          </a:prstGeom>
          <a:solidFill>
            <a:srgbClr val="1E293B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029700" y="3829050"/>
            <a:ext cx="20574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异步秒杀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81050" y="59626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833"/>
          </a:bodyPr>
          <a:lstStyle/>
          <a:p>
            <a:pPr algn="l">
              <a:defRPr sz="12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项目介绍 V1</a:t>
            </a:r>
            <a:endParaRPr sz="12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6633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323850"/>
            <a:ext cx="98107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项目定位</a:t>
            </a:r>
            <a:endParaRPr sz="255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895350"/>
            <a:ext cx="10096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从教学案例扩展为具备完整业务闭环的工程化项目</a:t>
            </a:r>
            <a:endParaRPr sz="12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40005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20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1381125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项目面向用户、商户与平台运营场景，覆盖内容、营销和交易流程。</a:t>
            </a:r>
            <a:endParaRPr sz="180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762000" y="2362200"/>
            <a:ext cx="2571750" cy="1428750"/>
          </a:xfrm>
          <a:prstGeom prst="roundRect">
            <a:avLst>
              <a:gd name="adj" fmla="val 5333"/>
            </a:avLst>
          </a:prstGeom>
          <a:solidFill>
            <a:srgbClr val="FFF4EE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76300" y="2438400"/>
            <a:ext cx="2343150" cy="1276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66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66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基础业务</a:t>
            </a:r>
            <a:endParaRPr sz="1500" b="1">
              <a:solidFill>
                <a:srgbClr val="FF66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00" b="1">
                <a:solidFill>
                  <a:srgbClr val="FF66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66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登录、商户、</a:t>
            </a:r>
            <a:r>
              <a:rPr lang="zh-CN" sz="1500" b="1">
                <a:solidFill>
                  <a:srgbClr val="FF66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</a:t>
            </a:r>
            <a:r>
              <a:rPr lang="zh-CN" sz="1500" b="1">
                <a:solidFill>
                  <a:srgbClr val="FF66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店</a:t>
            </a:r>
            <a:endParaRPr lang="zh-CN" sz="1500" b="1">
              <a:solidFill>
                <a:srgbClr val="FF66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3429000" y="3076575"/>
            <a:ext cx="1143000" cy="0"/>
          </a:xfrm>
          <a:prstGeom prst="line">
            <a:avLst/>
          </a:prstGeom>
          <a:noFill/>
          <a:ln w="28575">
            <a:solidFill>
              <a:srgbClr val="FF6633"/>
            </a:solidFill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4667250" y="2362200"/>
            <a:ext cx="2571750" cy="1428750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781550" y="2438400"/>
            <a:ext cx="2343150" cy="1276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交易闭环</a:t>
            </a:r>
            <a:endParaRPr sz="15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套餐、订单、核销</a:t>
            </a:r>
            <a:endParaRPr sz="15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7334250" y="3076575"/>
            <a:ext cx="1143000" cy="0"/>
          </a:xfrm>
          <a:prstGeom prst="line">
            <a:avLst/>
          </a:prstGeom>
          <a:noFill/>
          <a:ln w="28575">
            <a:solidFill>
              <a:srgbClr val="2563EB"/>
            </a:solidFill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8572500" y="2362200"/>
            <a:ext cx="2571750" cy="1428750"/>
          </a:xfrm>
          <a:prstGeom prst="roundRect">
            <a:avLst>
              <a:gd name="adj" fmla="val 5333"/>
            </a:avLst>
          </a:prstGeom>
          <a:solidFill>
            <a:srgbClr val="F0FDF4"/>
          </a:solidFill>
          <a:ln w="0">
            <a:noFill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686800" y="2438400"/>
            <a:ext cx="2343150" cy="1276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工程能力</a:t>
            </a:r>
            <a:endParaRPr sz="150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缓存、消息、监控</a:t>
            </a:r>
            <a:endParaRPr sz="150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62000" y="4686300"/>
            <a:ext cx="1524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246"/>
          </a:bodyPr>
          <a:lstStyle/>
          <a:p>
            <a:pPr algn="l">
              <a:defRPr sz="1425" b="1">
                <a:solidFill>
                  <a:srgbClr val="FF66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66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核心目标</a:t>
            </a:r>
            <a:endParaRPr sz="1425" b="1">
              <a:solidFill>
                <a:srgbClr val="FF66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62000" y="5048250"/>
            <a:ext cx="971550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在高并发场景中兼顾响应速度、数据一致性和故障恢复能力。</a:t>
            </a:r>
            <a:endParaRPr sz="210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矩形 28"/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6633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323850"/>
            <a:ext cx="98107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业务功能全景</a:t>
            </a:r>
            <a:endParaRPr sz="255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895350"/>
            <a:ext cx="10096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六个业务域组成用户从发现到消费的完整路径</a:t>
            </a:r>
            <a:endParaRPr sz="12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40005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20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85800" y="1571625"/>
            <a:ext cx="3333750" cy="1733550"/>
          </a:xfrm>
          <a:prstGeom prst="roundRect">
            <a:avLst>
              <a:gd name="adj" fmla="val 4396"/>
            </a:avLst>
          </a:prstGeom>
          <a:solidFill>
            <a:srgbClr val="FFF4EE"/>
          </a:solidFill>
          <a:ln w="0">
            <a:noFill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914400" y="1781175"/>
            <a:ext cx="1047750" cy="361950"/>
          </a:xfrm>
          <a:prstGeom prst="roundRect">
            <a:avLst>
              <a:gd name="adj" fmla="val 21053"/>
            </a:avLst>
          </a:prstGeom>
          <a:solidFill>
            <a:srgbClr val="FF6633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90600" y="1800225"/>
            <a:ext cx="8953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用户域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23925" y="2266950"/>
            <a:ext cx="2857500" cy="866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验证码登录</a:t>
            </a:r>
            <a:endParaRPr sz="1575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 登录态</a:t>
            </a:r>
            <a:endParaRPr sz="1575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签到统计</a:t>
            </a:r>
            <a:endParaRPr sz="1575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4495800" y="1571625"/>
            <a:ext cx="3333750" cy="1733550"/>
          </a:xfrm>
          <a:prstGeom prst="roundRect">
            <a:avLst>
              <a:gd name="adj" fmla="val 4396"/>
            </a:avLst>
          </a:prstGeom>
          <a:solidFill>
            <a:srgbClr val="EFF6FF"/>
          </a:solidFill>
          <a:ln w="0">
            <a:noFill/>
          </a:ln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4724400" y="1781175"/>
            <a:ext cx="1047750" cy="361950"/>
          </a:xfrm>
          <a:prstGeom prst="roundRect">
            <a:avLst>
              <a:gd name="adj" fmla="val 21053"/>
            </a:avLst>
          </a:prstGeom>
          <a:solidFill>
            <a:srgbClr val="2563EB"/>
          </a:solidFill>
          <a:ln w="0">
            <a:noFill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800600" y="1800225"/>
            <a:ext cx="8953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商户域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733925" y="2266950"/>
            <a:ext cx="2857500" cy="866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分类查询</a:t>
            </a:r>
            <a:endParaRPr sz="1575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附近商户</a:t>
            </a:r>
            <a:endParaRPr sz="1575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全文搜索</a:t>
            </a:r>
            <a:endParaRPr sz="1575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8305800" y="1571625"/>
            <a:ext cx="3333750" cy="1733550"/>
          </a:xfrm>
          <a:prstGeom prst="roundRect">
            <a:avLst>
              <a:gd name="adj" fmla="val 4396"/>
            </a:avLst>
          </a:prstGeom>
          <a:solidFill>
            <a:srgbClr val="F5F3FF"/>
          </a:solidFill>
          <a:ln w="0">
            <a:noFill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8534400" y="1781175"/>
            <a:ext cx="1047750" cy="361950"/>
          </a:xfrm>
          <a:prstGeom prst="roundRect">
            <a:avLst>
              <a:gd name="adj" fmla="val 21053"/>
            </a:avLst>
          </a:prstGeom>
          <a:solidFill>
            <a:srgbClr val="7C3AED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610600" y="1800225"/>
            <a:ext cx="8953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内容域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543925" y="2266950"/>
            <a:ext cx="2857500" cy="866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探店博客</a:t>
            </a:r>
            <a:endParaRPr sz="1575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点赞关注</a:t>
            </a:r>
            <a:endParaRPr sz="1575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Feed 流</a:t>
            </a:r>
            <a:endParaRPr sz="1575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85800" y="3762375"/>
            <a:ext cx="3333750" cy="1733550"/>
          </a:xfrm>
          <a:prstGeom prst="roundRect">
            <a:avLst>
              <a:gd name="adj" fmla="val 4396"/>
            </a:avLst>
          </a:prstGeom>
          <a:solidFill>
            <a:srgbClr val="FFF7ED"/>
          </a:solidFill>
          <a:ln w="0">
            <a:noFill/>
          </a:ln>
        </p:spPr>
      </p:sp>
      <p:sp>
        <p:nvSpPr>
          <p:cNvPr id="18" name="圆角矩形 17"/>
          <p:cNvSpPr>
            <a:spLocks noGrp="1"/>
          </p:cNvSpPr>
          <p:nvPr/>
        </p:nvSpPr>
        <p:spPr>
          <a:xfrm>
            <a:off x="914400" y="3971925"/>
            <a:ext cx="1047750" cy="361950"/>
          </a:xfrm>
          <a:prstGeom prst="roundRect">
            <a:avLst>
              <a:gd name="adj" fmla="val 21053"/>
            </a:avLst>
          </a:prstGeom>
          <a:solidFill>
            <a:srgbClr val="EA580C"/>
          </a:solidFill>
          <a:ln w="0">
            <a:noFill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90600" y="3990975"/>
            <a:ext cx="8953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营销域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23925" y="4457700"/>
            <a:ext cx="2857500" cy="866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优惠券</a:t>
            </a:r>
            <a:endParaRPr sz="1575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秒杀活动</a:t>
            </a:r>
            <a:endParaRPr sz="1575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套餐管理</a:t>
            </a:r>
            <a:endParaRPr sz="1575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4495800" y="3762375"/>
            <a:ext cx="3333750" cy="1733550"/>
          </a:xfrm>
          <a:prstGeom prst="roundRect">
            <a:avLst>
              <a:gd name="adj" fmla="val 4396"/>
            </a:avLst>
          </a:prstGeom>
          <a:solidFill>
            <a:srgbClr val="F0FDF4"/>
          </a:solidFill>
          <a:ln w="0">
            <a:noFill/>
          </a:ln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4724400" y="3971925"/>
            <a:ext cx="1047750" cy="361950"/>
          </a:xfrm>
          <a:prstGeom prst="roundRect">
            <a:avLst>
              <a:gd name="adj" fmla="val 21053"/>
            </a:avLst>
          </a:prstGeom>
          <a:solidFill>
            <a:srgbClr val="16A34A"/>
          </a:solidFill>
          <a:ln w="0">
            <a:noFill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800600" y="3990975"/>
            <a:ext cx="8953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交易域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733925" y="4457700"/>
            <a:ext cx="2857500" cy="866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订单创建</a:t>
            </a:r>
            <a:endParaRPr sz="1575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取消回滚</a:t>
            </a:r>
            <a:endParaRPr sz="1575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核销记录</a:t>
            </a:r>
            <a:endParaRPr sz="1575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8305800" y="3762375"/>
            <a:ext cx="3333750" cy="1733550"/>
          </a:xfrm>
          <a:prstGeom prst="roundRect">
            <a:avLst>
              <a:gd name="adj" fmla="val 4396"/>
            </a:avLst>
          </a:prstGeom>
          <a:solidFill>
            <a:srgbClr val="F8FAFC"/>
          </a:solidFill>
          <a:ln w="0">
            <a:noFill/>
          </a:ln>
        </p:spPr>
      </p:sp>
      <p:sp>
        <p:nvSpPr>
          <p:cNvPr id="26" name="圆角矩形 25"/>
          <p:cNvSpPr>
            <a:spLocks noGrp="1"/>
          </p:cNvSpPr>
          <p:nvPr/>
        </p:nvSpPr>
        <p:spPr>
          <a:xfrm>
            <a:off x="8534400" y="3971925"/>
            <a:ext cx="1047750" cy="361950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0">
            <a:noFill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610600" y="3990975"/>
            <a:ext cx="8953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扩展能力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543925" y="4457700"/>
            <a:ext cx="2857500" cy="866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智能客服</a:t>
            </a:r>
            <a:endParaRPr sz="1575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后台管理</a:t>
            </a:r>
            <a:endParaRPr sz="1575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监控告警</a:t>
            </a:r>
            <a:endParaRPr sz="1575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5" name="矩形 34"/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6633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323850"/>
            <a:ext cx="98107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系统总体架构</a:t>
            </a:r>
            <a:endParaRPr sz="255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895350"/>
            <a:ext cx="10096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前端负责体验，业务服务承载规则，中间件处理高并发与数据检索</a:t>
            </a:r>
            <a:endParaRPr sz="12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40005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20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1143000" y="1381125"/>
            <a:ext cx="8858250" cy="666750"/>
          </a:xfrm>
          <a:prstGeom prst="roundRect">
            <a:avLst>
              <a:gd name="adj" fmla="val 11429"/>
            </a:avLst>
          </a:prstGeom>
          <a:solidFill>
            <a:srgbClr val="FFF4EE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381125" y="1466850"/>
            <a:ext cx="3524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FF66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66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用户端 / 商家端</a:t>
            </a:r>
            <a:endParaRPr sz="1650" b="1">
              <a:solidFill>
                <a:srgbClr val="FF66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905375" y="146685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浏览、下单、核销、后台管理</a:t>
            </a:r>
            <a:endParaRPr sz="13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5572125" y="2066925"/>
            <a:ext cx="0" cy="209550"/>
          </a:xfrm>
          <a:prstGeom prst="line">
            <a:avLst/>
          </a:prstGeom>
          <a:noFill/>
          <a:ln w="28575">
            <a:solidFill>
              <a:srgbClr val="CBD5E1"/>
            </a:solidFill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1143000" y="2314575"/>
            <a:ext cx="8858250" cy="666750"/>
          </a:xfrm>
          <a:prstGeom prst="roundRect">
            <a:avLst>
              <a:gd name="adj" fmla="val 11429"/>
            </a:avLst>
          </a:prstGeom>
          <a:solidFill>
            <a:srgbClr val="FFF7ED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381125" y="2400300"/>
            <a:ext cx="3524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Vue 3 + Nginx</a:t>
            </a:r>
            <a:endParaRPr sz="1650" b="1">
              <a:solidFill>
                <a:srgbClr val="EA58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905375" y="240030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页面交互、路由、静态资源与反向代理</a:t>
            </a:r>
            <a:endParaRPr sz="13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5572125" y="3000375"/>
            <a:ext cx="0" cy="209550"/>
          </a:xfrm>
          <a:prstGeom prst="line">
            <a:avLst/>
          </a:prstGeom>
          <a:noFill/>
          <a:ln w="28575">
            <a:solidFill>
              <a:srgbClr val="CBD5E1"/>
            </a:solidFill>
          </a:ln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1143000" y="3248025"/>
            <a:ext cx="8858250" cy="66675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0">
            <a:noFill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381125" y="3333750"/>
            <a:ext cx="3524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Spring Boot 业务服务</a:t>
            </a:r>
            <a:endParaRPr sz="16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905375" y="333375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用户、商户、博客、订单、搜索、客服</a:t>
            </a:r>
            <a:endParaRPr sz="13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5572125" y="3933825"/>
            <a:ext cx="0" cy="209550"/>
          </a:xfrm>
          <a:prstGeom prst="line">
            <a:avLst/>
          </a:prstGeom>
          <a:noFill/>
          <a:ln w="28575">
            <a:solidFill>
              <a:srgbClr val="CBD5E1"/>
            </a:solidFill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1143000" y="4181475"/>
            <a:ext cx="8858250" cy="666750"/>
          </a:xfrm>
          <a:prstGeom prst="roundRect">
            <a:avLst>
              <a:gd name="adj" fmla="val 11429"/>
            </a:avLst>
          </a:prstGeom>
          <a:solidFill>
            <a:srgbClr val="F5F3FF"/>
          </a:solidFill>
          <a:ln w="0">
            <a:noFill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381125" y="4267200"/>
            <a:ext cx="3524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729"/>
          </a:bodyPr>
          <a:lstStyle/>
          <a:p>
            <a:pPr algn="l">
              <a:defRPr sz="1650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Redis / Kafka / Elasticsearch / Canal</a:t>
            </a:r>
            <a:endParaRPr sz="1650" b="1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905375" y="426720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缓存、消息、检索与数据同步</a:t>
            </a:r>
            <a:endParaRPr sz="13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5572125" y="4867275"/>
            <a:ext cx="0" cy="209550"/>
          </a:xfrm>
          <a:prstGeom prst="line">
            <a:avLst/>
          </a:prstGeom>
          <a:noFill/>
          <a:ln w="28575">
            <a:solidFill>
              <a:srgbClr val="CBD5E1"/>
            </a:solidFill>
          </a:ln>
        </p:spPr>
      </p:sp>
      <p:sp>
        <p:nvSpPr>
          <p:cNvPr id="21" name="圆角矩形 20"/>
          <p:cNvSpPr>
            <a:spLocks noGrp="1"/>
          </p:cNvSpPr>
          <p:nvPr/>
        </p:nvSpPr>
        <p:spPr>
          <a:xfrm>
            <a:off x="1143000" y="5114925"/>
            <a:ext cx="8858250" cy="666750"/>
          </a:xfrm>
          <a:prstGeom prst="roundRect">
            <a:avLst>
              <a:gd name="adj" fmla="val 11429"/>
            </a:avLst>
          </a:prstGeom>
          <a:solidFill>
            <a:srgbClr val="F0FDF4"/>
          </a:solidFill>
          <a:ln w="0">
            <a:noFill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381125" y="5200650"/>
            <a:ext cx="3524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MySQL</a:t>
            </a:r>
            <a:endParaRPr sz="165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905375" y="520065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订单、库存与业务数据的最终存储</a:t>
            </a:r>
            <a:endParaRPr sz="13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0382250" y="1600200"/>
            <a:ext cx="1143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ctr">
              <a:defRPr sz="1350" b="1">
                <a:solidFill>
                  <a:srgbClr val="FF66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66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横向能力</a:t>
            </a:r>
            <a:endParaRPr sz="1350" b="1">
              <a:solidFill>
                <a:srgbClr val="FF66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10382250" y="2028825"/>
            <a:ext cx="1143000" cy="361950"/>
          </a:xfrm>
          <a:prstGeom prst="roundRect">
            <a:avLst>
              <a:gd name="adj" fmla="val 21053"/>
            </a:avLst>
          </a:prstGeom>
          <a:solidFill>
            <a:srgbClr val="FF6633"/>
          </a:solidFill>
          <a:ln w="0">
            <a:noFill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0458450" y="2047875"/>
            <a:ext cx="9906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鉴权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10382250" y="2733675"/>
            <a:ext cx="1143000" cy="361950"/>
          </a:xfrm>
          <a:prstGeom prst="roundRect">
            <a:avLst>
              <a:gd name="adj" fmla="val 21053"/>
            </a:avLst>
          </a:prstGeom>
          <a:solidFill>
            <a:srgbClr val="FF6633"/>
          </a:solidFill>
          <a:ln w="0">
            <a:noFill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0458450" y="2752725"/>
            <a:ext cx="9906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限流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10382250" y="3438525"/>
            <a:ext cx="1143000" cy="361950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0">
            <a:noFill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0458450" y="3457575"/>
            <a:ext cx="9906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异常处理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10382250" y="4143375"/>
            <a:ext cx="1143000" cy="361950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0">
            <a:noFill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0458450" y="4162425"/>
            <a:ext cx="9906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指标监控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10382250" y="4848225"/>
            <a:ext cx="1143000" cy="361950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0">
            <a:noFill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0458450" y="4867275"/>
            <a:ext cx="9906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自动化测试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矩形 28"/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6633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323850"/>
            <a:ext cx="98107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Redis 在业务中的应用</a:t>
            </a:r>
            <a:endParaRPr sz="255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895350"/>
            <a:ext cx="10096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不同数据结构解决不同访问模式</a:t>
            </a:r>
            <a:endParaRPr sz="12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40005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20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1066800" y="1409700"/>
            <a:ext cx="1428750" cy="361950"/>
          </a:xfrm>
          <a:prstGeom prst="roundRect">
            <a:avLst>
              <a:gd name="adj" fmla="val 21053"/>
            </a:avLst>
          </a:prstGeom>
          <a:solidFill>
            <a:srgbClr val="FF6633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43000" y="1428750"/>
            <a:ext cx="12763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String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905125" y="1390650"/>
            <a:ext cx="7524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验证码、Token 登录态、商户缓存</a:t>
            </a:r>
            <a:endParaRPr sz="1725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905125" y="1924050"/>
            <a:ext cx="7429500" cy="9525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1066800" y="2152650"/>
            <a:ext cx="1428750" cy="361950"/>
          </a:xfrm>
          <a:prstGeom prst="roundRect">
            <a:avLst>
              <a:gd name="adj" fmla="val 21053"/>
            </a:avLst>
          </a:prstGeom>
          <a:solidFill>
            <a:srgbClr val="FF6633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143000" y="2171700"/>
            <a:ext cx="12763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Set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905125" y="2133600"/>
            <a:ext cx="7524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关注关系与共同关注</a:t>
            </a:r>
            <a:endParaRPr sz="1725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905125" y="2667000"/>
            <a:ext cx="7429500" cy="9525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1066800" y="2895600"/>
            <a:ext cx="1428750" cy="361950"/>
          </a:xfrm>
          <a:prstGeom prst="roundRect">
            <a:avLst>
              <a:gd name="adj" fmla="val 21053"/>
            </a:avLst>
          </a:prstGeom>
          <a:solidFill>
            <a:srgbClr val="FF6633"/>
          </a:solidFill>
          <a:ln w="0">
            <a:noFill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143000" y="2914650"/>
            <a:ext cx="12763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ZSet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905125" y="2876550"/>
            <a:ext cx="7524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博客点赞排行与 Feed 时间线</a:t>
            </a:r>
            <a:endParaRPr sz="1725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905125" y="3409950"/>
            <a:ext cx="7429500" cy="9525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1066800" y="3638550"/>
            <a:ext cx="1428750" cy="361950"/>
          </a:xfrm>
          <a:prstGeom prst="roundRect">
            <a:avLst>
              <a:gd name="adj" fmla="val 21053"/>
            </a:avLst>
          </a:prstGeom>
          <a:solidFill>
            <a:srgbClr val="FF6633"/>
          </a:solidFill>
          <a:ln w="0">
            <a:noFill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143000" y="3657600"/>
            <a:ext cx="12763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Bitmap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905125" y="3619500"/>
            <a:ext cx="7524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用户签到与连续签到统计</a:t>
            </a:r>
            <a:endParaRPr sz="1725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905125" y="4152900"/>
            <a:ext cx="7429500" cy="9525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</p:sp>
      <p:sp>
        <p:nvSpPr>
          <p:cNvPr id="21" name="圆角矩形 20"/>
          <p:cNvSpPr>
            <a:spLocks noGrp="1"/>
          </p:cNvSpPr>
          <p:nvPr/>
        </p:nvSpPr>
        <p:spPr>
          <a:xfrm>
            <a:off x="1066800" y="4381500"/>
            <a:ext cx="1428750" cy="361950"/>
          </a:xfrm>
          <a:prstGeom prst="roundRect">
            <a:avLst>
              <a:gd name="adj" fmla="val 21053"/>
            </a:avLst>
          </a:prstGeom>
          <a:solidFill>
            <a:srgbClr val="FF6633"/>
          </a:solidFill>
          <a:ln w="0">
            <a:noFill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143000" y="4400550"/>
            <a:ext cx="12763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GEO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905125" y="4362450"/>
            <a:ext cx="7524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附近商户与距离计算</a:t>
            </a:r>
            <a:endParaRPr sz="1725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905125" y="4895850"/>
            <a:ext cx="7429500" cy="9525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</p:sp>
      <p:sp>
        <p:nvSpPr>
          <p:cNvPr id="25" name="圆角矩形 24"/>
          <p:cNvSpPr>
            <a:spLocks noGrp="1"/>
          </p:cNvSpPr>
          <p:nvPr/>
        </p:nvSpPr>
        <p:spPr>
          <a:xfrm>
            <a:off x="1066800" y="5124450"/>
            <a:ext cx="1428750" cy="361950"/>
          </a:xfrm>
          <a:prstGeom prst="roundRect">
            <a:avLst>
              <a:gd name="adj" fmla="val 21053"/>
            </a:avLst>
          </a:prstGeom>
          <a:solidFill>
            <a:srgbClr val="2563EB"/>
          </a:solidFill>
          <a:ln w="0">
            <a:noFill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143000" y="5143500"/>
            <a:ext cx="12763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Stream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2905125" y="5105400"/>
            <a:ext cx="7524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秒杀订单事件与异步处理</a:t>
            </a:r>
            <a:endParaRPr sz="1725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066800" y="5943600"/>
            <a:ext cx="985837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Redis 同时参与缓存、登录、社交关系、签到、地理位置和消息流处理。</a:t>
            </a:r>
            <a:endParaRPr sz="15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矩形 27"/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6633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323850"/>
            <a:ext cx="98107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商户两级缓存</a:t>
            </a:r>
            <a:endParaRPr sz="255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895350"/>
            <a:ext cx="10096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热点请求优先命中本地缓存，Redis 负责跨节点共享</a:t>
            </a:r>
            <a:endParaRPr sz="12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40005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20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66750" y="2381250"/>
            <a:ext cx="1619250" cy="876300"/>
          </a:xfrm>
          <a:prstGeom prst="roundRect">
            <a:avLst>
              <a:gd name="adj" fmla="val 8696"/>
            </a:avLst>
          </a:prstGeom>
          <a:solidFill>
            <a:srgbClr val="FFF4EE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2457450"/>
            <a:ext cx="1390650" cy="723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66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66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用户请求</a:t>
            </a:r>
            <a:endParaRPr sz="1500" b="1">
              <a:solidFill>
                <a:srgbClr val="FF66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2381250" y="2819400"/>
            <a:ext cx="857250" cy="0"/>
          </a:xfrm>
          <a:prstGeom prst="line">
            <a:avLst/>
          </a:prstGeom>
          <a:noFill/>
          <a:ln w="28575">
            <a:solidFill>
              <a:srgbClr val="FF6633"/>
            </a:solidFill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3333750" y="2190750"/>
            <a:ext cx="2095500" cy="1238250"/>
          </a:xfrm>
          <a:prstGeom prst="roundRect">
            <a:avLst>
              <a:gd name="adj" fmla="val 6154"/>
            </a:avLst>
          </a:prstGeom>
          <a:solidFill>
            <a:srgbClr val="FFF7ED"/>
          </a:solidFill>
          <a:ln w="0">
            <a:noFill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448050" y="2266950"/>
            <a:ext cx="1866900" cy="1085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Caffeine</a:t>
            </a:r>
            <a:endParaRPr sz="1500" b="1">
              <a:solidFill>
                <a:srgbClr val="EA58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0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本地缓存</a:t>
            </a:r>
            <a:endParaRPr sz="1500" b="1">
              <a:solidFill>
                <a:srgbClr val="EA58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5524500" y="2819400"/>
            <a:ext cx="857250" cy="0"/>
          </a:xfrm>
          <a:prstGeom prst="line">
            <a:avLst/>
          </a:prstGeom>
          <a:noFill/>
          <a:ln w="28575">
            <a:solidFill>
              <a:srgbClr val="2563EB"/>
            </a:solidFill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6477000" y="2190750"/>
            <a:ext cx="2095500" cy="1238250"/>
          </a:xfrm>
          <a:prstGeom prst="roundRect">
            <a:avLst>
              <a:gd name="adj" fmla="val 6154"/>
            </a:avLst>
          </a:prstGeom>
          <a:solidFill>
            <a:srgbClr val="EFF6FF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591300" y="2266950"/>
            <a:ext cx="1866900" cy="1085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Redis</a:t>
            </a:r>
            <a:endParaRPr sz="15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分布式缓存</a:t>
            </a:r>
            <a:endParaRPr sz="15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8667750" y="2819400"/>
            <a:ext cx="857250" cy="0"/>
          </a:xfrm>
          <a:prstGeom prst="line">
            <a:avLst/>
          </a:prstGeom>
          <a:noFill/>
          <a:ln w="28575">
            <a:solidFill>
              <a:srgbClr val="16A34A"/>
            </a:solidFill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9620250" y="2190750"/>
            <a:ext cx="1809750" cy="1238250"/>
          </a:xfrm>
          <a:prstGeom prst="roundRect">
            <a:avLst>
              <a:gd name="adj" fmla="val 6154"/>
            </a:avLst>
          </a:prstGeom>
          <a:solidFill>
            <a:srgbClr val="F0FDF4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734550" y="2266950"/>
            <a:ext cx="1581150" cy="1085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MySQL</a:t>
            </a:r>
            <a:endParaRPr sz="150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数据源</a:t>
            </a:r>
            <a:endParaRPr sz="150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1047750" y="4238625"/>
            <a:ext cx="1571625" cy="361950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0">
            <a:noFill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123950" y="4257675"/>
            <a:ext cx="141922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穿透防护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76300" y="4686300"/>
            <a:ext cx="19526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空值缓存</a:t>
            </a:r>
            <a:endParaRPr sz="150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3714750" y="4238625"/>
            <a:ext cx="1571625" cy="361950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0">
            <a:noFill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3790950" y="4257675"/>
            <a:ext cx="141922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击穿防护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543300" y="4686300"/>
            <a:ext cx="19526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互斥锁或逻辑过期</a:t>
            </a:r>
            <a:endParaRPr sz="150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6381750" y="4238625"/>
            <a:ext cx="1571625" cy="361950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0">
            <a:noFill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457950" y="4257675"/>
            <a:ext cx="141922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热点加速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10300" y="4686300"/>
            <a:ext cx="19526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Caffeine</a:t>
            </a:r>
            <a:endParaRPr sz="150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9048750" y="4238625"/>
            <a:ext cx="1571625" cy="361950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0">
            <a:noFill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9124950" y="4257675"/>
            <a:ext cx="141922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节点一致性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877300" y="4686300"/>
            <a:ext cx="195262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Redis Pub/Sub</a:t>
            </a:r>
            <a:endParaRPr sz="150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6633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323850"/>
            <a:ext cx="98107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秒杀场景的核心挑战</a:t>
            </a:r>
            <a:endParaRPr sz="255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895350"/>
            <a:ext cx="10096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峰值流量、并发竞争和异步故障同时出现</a:t>
            </a:r>
            <a:endParaRPr sz="12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40005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20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4714875" y="2619375"/>
            <a:ext cx="2762250" cy="1143000"/>
          </a:xfrm>
          <a:prstGeom prst="roundRect">
            <a:avLst>
              <a:gd name="adj" fmla="val 6667"/>
            </a:avLst>
          </a:prstGeom>
          <a:solidFill>
            <a:srgbClr val="FF6633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829175" y="2695575"/>
            <a:ext cx="2533650" cy="990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秒杀请求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62000" y="1428750"/>
            <a:ext cx="2762250" cy="781050"/>
          </a:xfrm>
          <a:prstGeom prst="roundRect">
            <a:avLst>
              <a:gd name="adj" fmla="val 9756"/>
            </a:avLst>
          </a:prstGeom>
          <a:solidFill>
            <a:srgbClr val="FFF7ED"/>
          </a:solidFill>
          <a:ln w="0"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76300" y="1504950"/>
            <a:ext cx="2533650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数据库压力</a:t>
            </a:r>
            <a:endParaRPr sz="1500" b="1">
              <a:solidFill>
                <a:srgbClr val="EA58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8667750" y="1428750"/>
            <a:ext cx="2762250" cy="781050"/>
          </a:xfrm>
          <a:prstGeom prst="roundRect">
            <a:avLst>
              <a:gd name="adj" fmla="val 9756"/>
            </a:avLst>
          </a:prstGeom>
          <a:solidFill>
            <a:srgbClr val="FEF2F2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782050" y="1504950"/>
            <a:ext cx="2533650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库存超卖</a:t>
            </a:r>
            <a:endParaRPr sz="1500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62000" y="4524375"/>
            <a:ext cx="2762250" cy="781050"/>
          </a:xfrm>
          <a:prstGeom prst="roundRect">
            <a:avLst>
              <a:gd name="adj" fmla="val 9756"/>
            </a:avLst>
          </a:prstGeom>
          <a:solidFill>
            <a:srgbClr val="FFF7ED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76300" y="4600575"/>
            <a:ext cx="2533650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重复下单</a:t>
            </a:r>
            <a:endParaRPr sz="1500" b="1">
              <a:solidFill>
                <a:srgbClr val="EA58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8667750" y="4524375"/>
            <a:ext cx="2762250" cy="781050"/>
          </a:xfrm>
          <a:prstGeom prst="roundRect">
            <a:avLst>
              <a:gd name="adj" fmla="val 9756"/>
            </a:avLst>
          </a:prstGeom>
          <a:solidFill>
            <a:srgbClr val="FEF2F2"/>
          </a:solidFill>
          <a:ln w="0">
            <a:noFill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782050" y="4600575"/>
            <a:ext cx="2533650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消息重复</a:t>
            </a:r>
            <a:endParaRPr sz="1500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4000500" y="1285875"/>
            <a:ext cx="2762250" cy="781050"/>
          </a:xfrm>
          <a:prstGeom prst="roundRect">
            <a:avLst>
              <a:gd name="adj" fmla="val 9756"/>
            </a:avLst>
          </a:prstGeom>
          <a:solidFill>
            <a:srgbClr val="FFF7ED"/>
          </a:solidFill>
          <a:ln w="0">
            <a:noFill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114800" y="1362075"/>
            <a:ext cx="2533650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预扣后落库失败</a:t>
            </a:r>
            <a:endParaRPr sz="1500" b="1">
              <a:solidFill>
                <a:srgbClr val="EA58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4000500" y="4762500"/>
            <a:ext cx="2762250" cy="781050"/>
          </a:xfrm>
          <a:prstGeom prst="roundRect">
            <a:avLst>
              <a:gd name="adj" fmla="val 9756"/>
            </a:avLst>
          </a:prstGeom>
          <a:solidFill>
            <a:srgbClr val="FEF2F2"/>
          </a:solidFill>
          <a:ln w="0">
            <a:noFill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114800" y="4838700"/>
            <a:ext cx="2533650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消费积压</a:t>
            </a:r>
            <a:endParaRPr sz="1500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428750" y="5962650"/>
            <a:ext cx="93345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设计重点：尽早拦截无效请求，并为异步阶段准备幂等、重试和补偿机制。</a:t>
            </a:r>
            <a:endParaRPr sz="165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6633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323850"/>
            <a:ext cx="98107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秒杀核心链路</a:t>
            </a:r>
            <a:endParaRPr sz="255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895350"/>
            <a:ext cx="10096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Redis 快速判断资格，Kafka 削峰，MySQL 负责最终确认</a:t>
            </a:r>
            <a:endParaRPr sz="12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40005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20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381000" y="2333625"/>
            <a:ext cx="1285875" cy="904875"/>
          </a:xfrm>
          <a:prstGeom prst="roundRect">
            <a:avLst>
              <a:gd name="adj" fmla="val 8421"/>
            </a:avLst>
          </a:prstGeom>
          <a:solidFill>
            <a:srgbClr val="FFF4EE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495300" y="2409825"/>
            <a:ext cx="1057275" cy="752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66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66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用户请求</a:t>
            </a:r>
            <a:endParaRPr sz="1500" b="1">
              <a:solidFill>
                <a:srgbClr val="FF66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1695450" y="2790825"/>
            <a:ext cx="200025" cy="0"/>
          </a:xfrm>
          <a:prstGeom prst="line">
            <a:avLst/>
          </a:prstGeom>
          <a:noFill/>
          <a:ln w="28575">
            <a:solidFill>
              <a:srgbClr val="FF6633"/>
            </a:solidFill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1952625" y="2333625"/>
            <a:ext cx="1285875" cy="904875"/>
          </a:xfrm>
          <a:prstGeom prst="roundRect">
            <a:avLst>
              <a:gd name="adj" fmla="val 8421"/>
            </a:avLst>
          </a:prstGeom>
          <a:solidFill>
            <a:srgbClr val="FFF7ED"/>
          </a:solidFill>
          <a:ln w="0">
            <a:noFill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2066925" y="2409825"/>
            <a:ext cx="1057275" cy="752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Lua 原子校验</a:t>
            </a:r>
            <a:endParaRPr sz="1500" b="1">
              <a:solidFill>
                <a:srgbClr val="EA58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3267075" y="2790825"/>
            <a:ext cx="200025" cy="0"/>
          </a:xfrm>
          <a:prstGeom prst="line">
            <a:avLst/>
          </a:prstGeom>
          <a:noFill/>
          <a:ln w="28575">
            <a:solidFill>
              <a:srgbClr val="EA580C"/>
            </a:solidFill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3524250" y="2333625"/>
            <a:ext cx="1285875" cy="904875"/>
          </a:xfrm>
          <a:prstGeom prst="roundRect">
            <a:avLst>
              <a:gd name="adj" fmla="val 8421"/>
            </a:avLst>
          </a:prstGeom>
          <a:solidFill>
            <a:srgbClr val="FFF7ED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638550" y="2409825"/>
            <a:ext cx="1057275" cy="752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Redis 预扣</a:t>
            </a:r>
            <a:endParaRPr sz="1500" b="1">
              <a:solidFill>
                <a:srgbClr val="EA58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4838700" y="2790825"/>
            <a:ext cx="200025" cy="0"/>
          </a:xfrm>
          <a:prstGeom prst="line">
            <a:avLst/>
          </a:prstGeom>
          <a:noFill/>
          <a:ln w="28575">
            <a:solidFill>
              <a:srgbClr val="EA580C"/>
            </a:solidFill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5095875" y="2333625"/>
            <a:ext cx="1285875" cy="904875"/>
          </a:xfrm>
          <a:prstGeom prst="roundRect">
            <a:avLst>
              <a:gd name="adj" fmla="val 8421"/>
            </a:avLst>
          </a:prstGeom>
          <a:solidFill>
            <a:srgbClr val="EFF6FF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210175" y="2409825"/>
            <a:ext cx="1057275" cy="752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写入 Stream</a:t>
            </a:r>
            <a:endParaRPr sz="15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6410325" y="2790825"/>
            <a:ext cx="200025" cy="0"/>
          </a:xfrm>
          <a:prstGeom prst="line">
            <a:avLst/>
          </a:prstGeom>
          <a:noFill/>
          <a:ln w="28575">
            <a:solidFill>
              <a:srgbClr val="2563EB"/>
            </a:solidFill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6667500" y="2333625"/>
            <a:ext cx="1285875" cy="904875"/>
          </a:xfrm>
          <a:prstGeom prst="roundRect">
            <a:avLst>
              <a:gd name="adj" fmla="val 8421"/>
            </a:avLst>
          </a:prstGeom>
          <a:solidFill>
            <a:srgbClr val="EFF6FF"/>
          </a:solidFill>
          <a:ln w="0">
            <a:noFill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781800" y="2409825"/>
            <a:ext cx="1057275" cy="752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Relay 转发</a:t>
            </a:r>
            <a:endParaRPr sz="15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7981950" y="2790825"/>
            <a:ext cx="200025" cy="0"/>
          </a:xfrm>
          <a:prstGeom prst="line">
            <a:avLst/>
          </a:prstGeom>
          <a:noFill/>
          <a:ln w="28575">
            <a:solidFill>
              <a:srgbClr val="2563EB"/>
            </a:solidFill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8239125" y="2333625"/>
            <a:ext cx="1285875" cy="904875"/>
          </a:xfrm>
          <a:prstGeom prst="roundRect">
            <a:avLst>
              <a:gd name="adj" fmla="val 8421"/>
            </a:avLst>
          </a:prstGeom>
          <a:solidFill>
            <a:srgbClr val="F5F3FF"/>
          </a:solidFill>
          <a:ln w="0">
            <a:noFill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353425" y="2409825"/>
            <a:ext cx="1057275" cy="752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Kafka 消费</a:t>
            </a:r>
            <a:endParaRPr sz="1500" b="1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9553575" y="2790825"/>
            <a:ext cx="200025" cy="0"/>
          </a:xfrm>
          <a:prstGeom prst="line">
            <a:avLst/>
          </a:prstGeom>
          <a:noFill/>
          <a:ln w="28575">
            <a:solidFill>
              <a:srgbClr val="7C3AED"/>
            </a:solidFill>
          </a:ln>
        </p:spPr>
      </p:sp>
      <p:sp>
        <p:nvSpPr>
          <p:cNvPr id="23" name="圆角矩形 22"/>
          <p:cNvSpPr>
            <a:spLocks noGrp="1"/>
          </p:cNvSpPr>
          <p:nvPr/>
        </p:nvSpPr>
        <p:spPr>
          <a:xfrm>
            <a:off x="9810750" y="2333625"/>
            <a:ext cx="1285875" cy="904875"/>
          </a:xfrm>
          <a:prstGeom prst="roundRect">
            <a:avLst>
              <a:gd name="adj" fmla="val 8421"/>
            </a:avLst>
          </a:prstGeom>
          <a:solidFill>
            <a:srgbClr val="F0FDF4"/>
          </a:solidFill>
          <a:ln w="0">
            <a:noFill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925050" y="2409825"/>
            <a:ext cx="1057275" cy="752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MySQL 落库</a:t>
            </a:r>
            <a:endParaRPr sz="150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952625" y="3714750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FF66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66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资格判断</a:t>
            </a:r>
            <a:endParaRPr sz="1425" b="1">
              <a:solidFill>
                <a:srgbClr val="FF66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952625" y="4076700"/>
            <a:ext cx="2857500" cy="38100"/>
          </a:xfrm>
          <a:prstGeom prst="rect">
            <a:avLst/>
          </a:prstGeom>
          <a:solidFill>
            <a:srgbClr val="FF6633"/>
          </a:solidFill>
          <a:ln w="0">
            <a:noFill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5095875" y="3714750"/>
            <a:ext cx="442912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异步削峰</a:t>
            </a:r>
            <a:endParaRPr sz="14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095875" y="4076700"/>
            <a:ext cx="4429125" cy="3810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810750" y="3714750"/>
            <a:ext cx="128587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最终事实</a:t>
            </a:r>
            <a:endParaRPr sz="1425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810750" y="4076700"/>
            <a:ext cx="1285875" cy="38100"/>
          </a:xfrm>
          <a:prstGeom prst="rect">
            <a:avLst/>
          </a:prstGeom>
          <a:solidFill>
            <a:srgbClr val="16A34A"/>
          </a:solidFill>
          <a:ln w="0">
            <a:noFill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162050" y="5143500"/>
            <a:ext cx="99060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676"/>
          </a:bodyPr>
          <a:lstStyle/>
          <a:p>
            <a:pPr algn="ctr">
              <a:defRPr sz="2025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Redis 返回成功只代表通过资格校验。订单是否成立，以消费者完成数据库事务为准。</a:t>
            </a:r>
            <a:endParaRPr sz="2025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矩形 29"/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6633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323850"/>
            <a:ext cx="98107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防超卖与防重复下单</a:t>
            </a:r>
            <a:endParaRPr sz="255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895350"/>
            <a:ext cx="10096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多层约束共同构成纵深防御</a:t>
            </a:r>
            <a:endParaRPr sz="12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40005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20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809625" y="1428750"/>
            <a:ext cx="9620250" cy="742950"/>
          </a:xfrm>
          <a:prstGeom prst="roundRect">
            <a:avLst>
              <a:gd name="adj" fmla="val 10256"/>
            </a:avLst>
          </a:prstGeom>
          <a:solidFill>
            <a:srgbClr val="FFF7ED"/>
          </a:solidFill>
          <a:ln w="0">
            <a:noFill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981075" y="1619250"/>
            <a:ext cx="876300" cy="361950"/>
          </a:xfrm>
          <a:prstGeom prst="roundRect">
            <a:avLst>
              <a:gd name="adj" fmla="val 21053"/>
            </a:avLst>
          </a:prstGeom>
          <a:solidFill>
            <a:srgbClr val="FF6633"/>
          </a:solidFill>
          <a:ln w="0">
            <a:noFill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57275" y="1638300"/>
            <a:ext cx="7239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第一层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047875" y="1533525"/>
            <a:ext cx="2952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FF66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66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Redis Lua</a:t>
            </a:r>
            <a:endParaRPr sz="1575" b="1">
              <a:solidFill>
                <a:srgbClr val="FF66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000625" y="1533525"/>
            <a:ext cx="42862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原子校验库存和一人一单</a:t>
            </a:r>
            <a:endParaRPr sz="13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1333500" y="2381250"/>
            <a:ext cx="8572500" cy="742950"/>
          </a:xfrm>
          <a:prstGeom prst="roundRect">
            <a:avLst>
              <a:gd name="adj" fmla="val 10256"/>
            </a:avLst>
          </a:prstGeom>
          <a:solidFill>
            <a:srgbClr val="FFF7ED"/>
          </a:solidFill>
          <a:ln w="0">
            <a:noFill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1504950" y="2571750"/>
            <a:ext cx="876300" cy="361950"/>
          </a:xfrm>
          <a:prstGeom prst="roundRect">
            <a:avLst>
              <a:gd name="adj" fmla="val 21053"/>
            </a:avLst>
          </a:prstGeom>
          <a:solidFill>
            <a:srgbClr val="EA580C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581150" y="2590800"/>
            <a:ext cx="7239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第二层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571750" y="2486025"/>
            <a:ext cx="2952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用户订单标记与 Redisson</a:t>
            </a:r>
            <a:endParaRPr sz="1575" b="1">
              <a:solidFill>
                <a:srgbClr val="EA58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524500" y="2486025"/>
            <a:ext cx="357187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拦截同一用户的并发请求</a:t>
            </a:r>
            <a:endParaRPr sz="13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1857375" y="3333750"/>
            <a:ext cx="7524750" cy="742950"/>
          </a:xfrm>
          <a:prstGeom prst="roundRect">
            <a:avLst>
              <a:gd name="adj" fmla="val 10256"/>
            </a:avLst>
          </a:prstGeom>
          <a:solidFill>
            <a:srgbClr val="EFF6FF"/>
          </a:solidFill>
          <a:ln w="0">
            <a:noFill/>
          </a:ln>
        </p:spPr>
      </p:sp>
      <p:sp>
        <p:nvSpPr>
          <p:cNvPr id="16" name="圆角矩形 15"/>
          <p:cNvSpPr>
            <a:spLocks noGrp="1"/>
          </p:cNvSpPr>
          <p:nvPr/>
        </p:nvSpPr>
        <p:spPr>
          <a:xfrm>
            <a:off x="2028825" y="3524250"/>
            <a:ext cx="876300" cy="361950"/>
          </a:xfrm>
          <a:prstGeom prst="roundRect">
            <a:avLst>
              <a:gd name="adj" fmla="val 21053"/>
            </a:avLst>
          </a:prstGeom>
          <a:solidFill>
            <a:srgbClr val="2563EB"/>
          </a:solidFill>
          <a:ln w="0">
            <a:noFill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2105025" y="3543300"/>
            <a:ext cx="7239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第三层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095625" y="3438525"/>
            <a:ext cx="2952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MySQL 条件更新</a:t>
            </a:r>
            <a:endParaRPr sz="157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048375" y="3438525"/>
            <a:ext cx="28575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库存扣减必须满足 stock &gt; 0</a:t>
            </a:r>
            <a:endParaRPr sz="13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2381250" y="4286250"/>
            <a:ext cx="6477000" cy="742950"/>
          </a:xfrm>
          <a:prstGeom prst="roundRect">
            <a:avLst>
              <a:gd name="adj" fmla="val 10256"/>
            </a:avLst>
          </a:prstGeom>
          <a:solidFill>
            <a:srgbClr val="F0FDF4"/>
          </a:solidFill>
          <a:ln w="0">
            <a:noFill/>
          </a:ln>
        </p:spPr>
      </p:sp>
      <p:sp>
        <p:nvSpPr>
          <p:cNvPr id="21" name="圆角矩形 20"/>
          <p:cNvSpPr>
            <a:spLocks noGrp="1"/>
          </p:cNvSpPr>
          <p:nvPr/>
        </p:nvSpPr>
        <p:spPr>
          <a:xfrm>
            <a:off x="2552700" y="4476750"/>
            <a:ext cx="876300" cy="361950"/>
          </a:xfrm>
          <a:prstGeom prst="roundRect">
            <a:avLst>
              <a:gd name="adj" fmla="val 21053"/>
            </a:avLst>
          </a:prstGeom>
          <a:solidFill>
            <a:srgbClr val="16A34A"/>
          </a:solidFill>
          <a:ln w="0">
            <a:noFill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2628900" y="4495800"/>
            <a:ext cx="7239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第四层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619500" y="4391025"/>
            <a:ext cx="2952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数据库唯一索引</a:t>
            </a:r>
            <a:endParaRPr sz="1575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572250" y="4391025"/>
            <a:ext cx="21431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最终阻止重复订单写入</a:t>
            </a:r>
            <a:endParaRPr sz="13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2905125" y="5238750"/>
            <a:ext cx="5429250" cy="742950"/>
          </a:xfrm>
          <a:prstGeom prst="roundRect">
            <a:avLst>
              <a:gd name="adj" fmla="val 10256"/>
            </a:avLst>
          </a:prstGeom>
          <a:solidFill>
            <a:srgbClr val="F5F3FF"/>
          </a:solidFill>
          <a:ln w="0">
            <a:noFill/>
          </a:ln>
        </p:spPr>
      </p:sp>
      <p:sp>
        <p:nvSpPr>
          <p:cNvPr id="26" name="圆角矩形 25"/>
          <p:cNvSpPr>
            <a:spLocks noGrp="1"/>
          </p:cNvSpPr>
          <p:nvPr/>
        </p:nvSpPr>
        <p:spPr>
          <a:xfrm>
            <a:off x="3076575" y="5429250"/>
            <a:ext cx="876300" cy="361950"/>
          </a:xfrm>
          <a:prstGeom prst="roundRect">
            <a:avLst>
              <a:gd name="adj" fmla="val 21053"/>
            </a:avLst>
          </a:prstGeom>
          <a:solidFill>
            <a:srgbClr val="7C3AED"/>
          </a:solidFill>
          <a:ln w="0">
            <a:noFill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3152775" y="5448300"/>
            <a:ext cx="7239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第五层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4143375" y="5343525"/>
            <a:ext cx="2952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消费幂等</a:t>
            </a:r>
            <a:endParaRPr sz="1575" b="1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096125" y="5343525"/>
            <a:ext cx="14287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148"/>
          </a:bodyPr>
          <a:lstStyle/>
          <a:p>
            <a:pPr algn="l">
              <a:defRPr sz="13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重复消息不会重复创建订单</a:t>
            </a:r>
            <a:endParaRPr sz="135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矩形 24"/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6633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323850"/>
            <a:ext cx="98107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消息可靠性与补偿闭环</a:t>
            </a:r>
            <a:endParaRPr sz="255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895350"/>
            <a:ext cx="10096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异常订单通过重试、回滚和定时对账恢复一致性</a:t>
            </a:r>
            <a:endParaRPr sz="12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40005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20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66750" y="2381250"/>
            <a:ext cx="1476375" cy="857250"/>
          </a:xfrm>
          <a:prstGeom prst="roundRect">
            <a:avLst>
              <a:gd name="adj" fmla="val 8889"/>
            </a:avLst>
          </a:prstGeom>
          <a:solidFill>
            <a:srgbClr val="FFF7ED"/>
          </a:solidFill>
          <a:ln w="0"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2457450"/>
            <a:ext cx="1247775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FF66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66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预扣成功</a:t>
            </a:r>
            <a:endParaRPr sz="1500" b="1">
              <a:solidFill>
                <a:srgbClr val="FF66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2190750" y="2809875"/>
            <a:ext cx="257175" cy="0"/>
          </a:xfrm>
          <a:prstGeom prst="line">
            <a:avLst/>
          </a:prstGeom>
          <a:noFill/>
          <a:ln w="28575">
            <a:solidFill>
              <a:srgbClr val="DC2626"/>
            </a:solidFill>
          </a:ln>
        </p:spPr>
      </p:sp>
      <p:sp>
        <p:nvSpPr>
          <p:cNvPr id="8" name="圆角矩形 7"/>
          <p:cNvSpPr>
            <a:spLocks noGrp="1"/>
          </p:cNvSpPr>
          <p:nvPr/>
        </p:nvSpPr>
        <p:spPr>
          <a:xfrm>
            <a:off x="2524125" y="2381250"/>
            <a:ext cx="1476375" cy="857250"/>
          </a:xfrm>
          <a:prstGeom prst="roundRect">
            <a:avLst>
              <a:gd name="adj" fmla="val 8889"/>
            </a:avLst>
          </a:prstGeom>
          <a:solidFill>
            <a:srgbClr val="FEF2F2"/>
          </a:solidFill>
          <a:ln w="0">
            <a:noFill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2638425" y="2457450"/>
            <a:ext cx="1247775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消费失败</a:t>
            </a:r>
            <a:endParaRPr sz="1500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4048125" y="2809875"/>
            <a:ext cx="257175" cy="0"/>
          </a:xfrm>
          <a:prstGeom prst="line">
            <a:avLst/>
          </a:prstGeom>
          <a:noFill/>
          <a:ln w="28575">
            <a:solidFill>
              <a:srgbClr val="DC2626"/>
            </a:solidFill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4381500" y="2381250"/>
            <a:ext cx="1476375" cy="857250"/>
          </a:xfrm>
          <a:prstGeom prst="roundRect">
            <a:avLst>
              <a:gd name="adj" fmla="val 8889"/>
            </a:avLst>
          </a:prstGeom>
          <a:solidFill>
            <a:srgbClr val="FEF2F2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495800" y="2457450"/>
            <a:ext cx="1247775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失败重试</a:t>
            </a:r>
            <a:endParaRPr sz="1500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5905500" y="2809875"/>
            <a:ext cx="257175" cy="0"/>
          </a:xfrm>
          <a:prstGeom prst="line">
            <a:avLst/>
          </a:prstGeom>
          <a:noFill/>
          <a:ln w="28575">
            <a:solidFill>
              <a:srgbClr val="DC2626"/>
            </a:solidFill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6238875" y="2381250"/>
            <a:ext cx="1476375" cy="857250"/>
          </a:xfrm>
          <a:prstGeom prst="roundRect">
            <a:avLst>
              <a:gd name="adj" fmla="val 8889"/>
            </a:avLst>
          </a:prstGeom>
          <a:solidFill>
            <a:srgbClr val="FEF2F2"/>
          </a:solidFill>
          <a:ln w="0">
            <a:noFill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353175" y="2457450"/>
            <a:ext cx="1247775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超过阈值</a:t>
            </a:r>
            <a:endParaRPr sz="1500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7762875" y="2809875"/>
            <a:ext cx="257175" cy="0"/>
          </a:xfrm>
          <a:prstGeom prst="line">
            <a:avLst/>
          </a:prstGeom>
          <a:noFill/>
          <a:ln w="28575">
            <a:solidFill>
              <a:srgbClr val="16A34A"/>
            </a:solidFill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8096250" y="2381250"/>
            <a:ext cx="1476375" cy="857250"/>
          </a:xfrm>
          <a:prstGeom prst="roundRect">
            <a:avLst>
              <a:gd name="adj" fmla="val 8889"/>
            </a:avLst>
          </a:prstGeom>
          <a:solidFill>
            <a:srgbClr val="F0FDF4"/>
          </a:solidFill>
          <a:ln w="0">
            <a:noFill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210550" y="2457450"/>
            <a:ext cx="1247775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状态补偿</a:t>
            </a:r>
            <a:endParaRPr sz="150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9620250" y="2809875"/>
            <a:ext cx="257175" cy="0"/>
          </a:xfrm>
          <a:prstGeom prst="line">
            <a:avLst/>
          </a:prstGeom>
          <a:noFill/>
          <a:ln w="28575">
            <a:solidFill>
              <a:srgbClr val="16A34A"/>
            </a:solidFill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9953625" y="2381250"/>
            <a:ext cx="1476375" cy="857250"/>
          </a:xfrm>
          <a:prstGeom prst="roundRect">
            <a:avLst>
              <a:gd name="adj" fmla="val 8889"/>
            </a:avLst>
          </a:prstGeom>
          <a:solidFill>
            <a:srgbClr val="F0FDF4"/>
          </a:solidFill>
          <a:ln w="0">
            <a:noFill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067925" y="2457450"/>
            <a:ext cx="1247775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定时对账</a:t>
            </a:r>
            <a:endParaRPr sz="150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57250" y="4095750"/>
            <a:ext cx="1524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>
                <a:solidFill>
                  <a:srgbClr val="FF66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66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补偿对象</a:t>
            </a:r>
            <a:endParaRPr sz="1500" b="1">
              <a:solidFill>
                <a:srgbClr val="FF66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57250" y="4476750"/>
            <a:ext cx="9906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Redis 库存、用户下单标记、失败记录和数据库订单状态</a:t>
            </a:r>
            <a:endParaRPr sz="1725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57250" y="5286375"/>
            <a:ext cx="100012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系统通过手动确认、幂等消费、限次重试和周期性对账降低异步链路中的数据偏差。</a:t>
            </a:r>
            <a:endParaRPr sz="16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" name="矩形 35"/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6633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323850"/>
            <a:ext cx="98107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工程化能力</a:t>
            </a:r>
            <a:endParaRPr sz="255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895350"/>
            <a:ext cx="10096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安全、监控和测试让系统更容易运行与定位问题</a:t>
            </a:r>
            <a:endParaRPr sz="12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40005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20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66750" y="1524000"/>
            <a:ext cx="3048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75" b="1">
                <a:solidFill>
                  <a:srgbClr val="FF66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FF66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</a:t>
            </a:r>
            <a:endParaRPr sz="2175" b="1">
              <a:solidFill>
                <a:srgbClr val="FF66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2095500"/>
            <a:ext cx="3143250" cy="38100"/>
          </a:xfrm>
          <a:prstGeom prst="rect">
            <a:avLst/>
          </a:prstGeom>
          <a:solidFill>
            <a:srgbClr val="FF6633"/>
          </a:solidFill>
          <a:ln w="0">
            <a:noFill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666750" y="25241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6633"/>
          </a:solidFill>
          <a:ln w="0"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33450" y="23431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后台管理员权限检查</a:t>
            </a:r>
            <a:endParaRPr sz="1575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66750" y="32575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6633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33450" y="3076575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图片类型与大小限制</a:t>
            </a:r>
            <a:endParaRPr sz="1575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66750" y="39909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6633"/>
          </a:soli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33450" y="381000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接口限流</a:t>
            </a:r>
            <a:endParaRPr sz="1575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66750" y="47244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6633"/>
          </a:solidFill>
          <a:ln w="0">
            <a:noFill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33450" y="4543425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输入安全检查</a:t>
            </a:r>
            <a:endParaRPr sz="1575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524375" y="1524000"/>
            <a:ext cx="3048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监控</a:t>
            </a:r>
            <a:endParaRPr sz="217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524375" y="2095500"/>
            <a:ext cx="3143250" cy="3810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4524375" y="25241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791075" y="23431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JVM 与 HTTP 指标</a:t>
            </a:r>
            <a:endParaRPr sz="1575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4524375" y="32575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791075" y="3076575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Redis 与 Kafka 指标</a:t>
            </a:r>
            <a:endParaRPr sz="1575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4524375" y="39909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791075" y="381000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秒杀成功率</a:t>
            </a:r>
            <a:endParaRPr sz="1575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4524375" y="47244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791075" y="4543425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消息积压与缓存命中</a:t>
            </a:r>
            <a:endParaRPr sz="1575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382000" y="1524000"/>
            <a:ext cx="3048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75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</a:t>
            </a:r>
            <a:endParaRPr sz="2175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382000" y="2095500"/>
            <a:ext cx="3143250" cy="38100"/>
          </a:xfrm>
          <a:prstGeom prst="rect">
            <a:avLst/>
          </a:prstGeom>
          <a:solidFill>
            <a:srgbClr val="16A34A"/>
          </a:solidFill>
          <a:ln w="0">
            <a:noFill/>
          </a:ln>
        </p:spPr>
      </p:sp>
      <p:sp>
        <p:nvSpPr>
          <p:cNvPr id="27" name="圆角矩形 26"/>
          <p:cNvSpPr>
            <a:spLocks noGrp="1"/>
          </p:cNvSpPr>
          <p:nvPr/>
        </p:nvSpPr>
        <p:spPr>
          <a:xfrm>
            <a:off x="8382000" y="252412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0">
            <a:noFill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648700" y="234315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JUnit 5 单元测试</a:t>
            </a:r>
            <a:endParaRPr sz="1575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8382000" y="32575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0">
            <a:noFill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648700" y="3076575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PyTest 接口测试</a:t>
            </a:r>
            <a:endParaRPr sz="1575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8382000" y="39909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0">
            <a:noFill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648700" y="381000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Selenium UI 测试</a:t>
            </a:r>
            <a:endParaRPr sz="1575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8382000" y="47244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0">
            <a:noFill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648700" y="4543425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秒杀压测脚本</a:t>
            </a:r>
            <a:endParaRPr sz="1575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66750" y="5953125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本版只展示项目已实现的工程能力，不填写未经验证的覆盖率和性能数字。</a:t>
            </a:r>
            <a:endParaRPr sz="12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FF6633"/>
          </a:solidFill>
          <a:ln w="0">
            <a:noFill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323850"/>
            <a:ext cx="98107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项目总结与后续方向</a:t>
            </a:r>
            <a:endParaRPr sz="255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895350"/>
            <a:ext cx="10096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当前项目已具备完整业务面和较强的高并发实践价值</a:t>
            </a:r>
            <a:endParaRPr sz="127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400050"/>
            <a:ext cx="571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2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200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1524000"/>
            <a:ext cx="219075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75" b="1">
                <a:solidFill>
                  <a:srgbClr val="FF66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FF66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项目价值</a:t>
            </a:r>
            <a:endParaRPr sz="2175" b="1">
              <a:solidFill>
                <a:srgbClr val="FF66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62000" y="2047875"/>
            <a:ext cx="102870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从完成功能进一步走向性能、可靠性、一致性和可观测性。</a:t>
            </a:r>
            <a:endParaRPr sz="225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62000" y="3095625"/>
            <a:ext cx="10668000" cy="9525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3524250"/>
            <a:ext cx="1714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0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</a:t>
            </a:r>
            <a:endParaRPr sz="2025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762000" y="4191000"/>
            <a:ext cx="457200" cy="361950"/>
          </a:xfrm>
          <a:prstGeom prst="roundRect">
            <a:avLst>
              <a:gd name="adj" fmla="val 21053"/>
            </a:avLst>
          </a:prstGeom>
          <a:solidFill>
            <a:srgbClr val="FF6633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38200" y="4210050"/>
            <a:ext cx="3048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409700" y="4152900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补充可复现的压测数据与容量基线</a:t>
            </a:r>
            <a:endParaRPr sz="1575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6143625" y="4191000"/>
            <a:ext cx="457200" cy="361950"/>
          </a:xfrm>
          <a:prstGeom prst="roundRect">
            <a:avLst>
              <a:gd name="adj" fmla="val 21053"/>
            </a:avLst>
          </a:prstGeom>
          <a:solidFill>
            <a:srgbClr val="FF6633"/>
          </a:solidFill>
          <a:ln w="0">
            <a:noFill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219825" y="4210050"/>
            <a:ext cx="3048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791325" y="4152900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提升关键 Service 的测试覆盖率</a:t>
            </a:r>
            <a:endParaRPr sz="1575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762000" y="5095875"/>
            <a:ext cx="457200" cy="361950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0">
            <a:noFill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38200" y="5114925"/>
            <a:ext cx="3048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409700" y="5057775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完善链路追踪、告警与一键部署</a:t>
            </a:r>
            <a:endParaRPr sz="1575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6143625" y="5095875"/>
            <a:ext cx="457200" cy="361950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 w="0">
            <a:noFill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219825" y="5114925"/>
            <a:ext cx="3048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791325" y="5057775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整理日志、临时文件和仓库归档策略</a:t>
            </a:r>
            <a:endParaRPr sz="1575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715500" y="6019800"/>
            <a:ext cx="17145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1350" b="1">
                <a:solidFill>
                  <a:srgbClr val="FF66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66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Q&amp;A</a:t>
            </a:r>
            <a:endParaRPr sz="1350" b="1">
              <a:solidFill>
                <a:srgbClr val="FF66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1672</Words>
  <Application>WPS 演示</Application>
  <PresentationFormat>Converted Presentation</PresentationFormat>
  <Paragraphs>360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WPS_1789132013</cp:lastModifiedBy>
  <cp:revision>1</cp:revision>
  <dcterms:created xsi:type="dcterms:W3CDTF">2026-09-18T00:01:10Z</dcterms:created>
  <dcterms:modified xsi:type="dcterms:W3CDTF">2026-09-18T00:01:10Z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A2329A2E1F814521BB3273A8D5BD2A5A_12</vt:lpwstr>
  </property>
  <property fmtid="{D5CDD505-2E9C-101B-9397-08002B2CF9AE}" pid="3" name="KSOProductBuildVer">
    <vt:lpwstr>2052-12.1.0.28485</vt:lpwstr>
  </property>
</Properties>
</file>